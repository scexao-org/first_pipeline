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1" r:id="rId4"/>
    <p:sldId id="257" r:id="rId5"/>
    <p:sldId id="258" r:id="rId6"/>
    <p:sldId id="259" r:id="rId7"/>
    <p:sldId id="260" r:id="rId8"/>
    <p:sldId id="263" r:id="rId9"/>
    <p:sldId id="262" r:id="rId10"/>
    <p:sldId id="264" r:id="rId11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74"/>
    <p:restoredTop sz="94658"/>
  </p:normalViewPr>
  <p:slideViewPr>
    <p:cSldViewPr snapToGrid="0">
      <p:cViewPr varScale="1">
        <p:scale>
          <a:sx n="108" d="100"/>
          <a:sy n="108" d="100"/>
        </p:scale>
        <p:origin x="24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4C86-FCA6-C8DE-5AE7-1DD99F2BA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1D547-4791-826A-51CD-A5BD7650C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D9563-D9C1-4DA6-E0FC-E01863CD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B2BD8-1A1C-5EDE-8EF9-E99B290C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E540C-1347-9618-7BF2-EDB5094C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4859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1232-BA29-05F8-7F48-4DF44FFA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1905B-5906-C59D-3958-4B711363D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B0CC7-209C-BB99-39D5-5B6BC7CC3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FDF83-1CCE-8F71-D42C-476F472C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4A45C-A4BE-EBAA-4541-E892986B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977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3DC2-3D66-7802-42A5-707394C7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8BF55-3596-9F7E-616D-628814EDE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4EBD0-17F6-F61A-75ED-3896EF56D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41F70-5646-E5A6-5659-B080261C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CFEA5-21BF-DAC6-F643-3B30D6C2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0582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B026-C85C-9182-D194-5D149E66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4089-4D0C-A5BF-EF44-4F61318A0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448A6-510B-CA59-761F-6F6F67440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5CE6F-7496-34AF-EBCE-776DD53C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83A4F-15D2-364E-A41D-6E0D2EC0E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07735-B1D7-1B23-EB2D-23605E0E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3093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4978-FCAB-35C1-F8B1-66785CDD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75E63-B889-8304-00CF-944FD0A73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C32AD-F1DA-BF5E-1C5B-1004DBE0F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61376-293D-C898-6C21-D0811CBD5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5C45D-751F-93D4-13E2-01FC8C7BA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EEC85E-9490-6152-2033-1F5EBBA6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CB1FC-8FCD-4311-BE73-B25B55C5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951B8-3356-D77C-CF43-4E050C5E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9840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0604-1B9C-3C38-4B76-51AB9BB3D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FDBD2-BE9D-4812-B747-8E867C877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CBA51-DD8B-B3DE-968F-20E1FBB1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61616-1F5C-4835-717A-07B44E3D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277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5FF68C-454A-3D34-C706-F92D4CD7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4681A-ABC0-3E40-A18E-562BC62EB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8A2EE-95AE-4864-4A90-A28BA420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3503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4501-8DFD-9D2A-8F6D-76FB91093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36F54-6BCB-4905-64C3-10D26AB8B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00A8D-767B-C5AB-1BFB-AF05A1C71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14400-7892-C162-F07F-97E2B30D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03375-CA11-1DED-7EC0-732F51DB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F3064-9121-04EC-CEA7-0353E347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4283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A600-73D5-D37F-F973-241B6130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C96ED-FE21-1811-FD4F-772C3739E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49A7B-10DD-1B11-5417-D901FBC9F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796F4-98B2-978A-2C87-73D08A553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03CCB-F2E6-ABD3-90AE-D79AAC30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D1906-DBD1-C7A1-CC0C-B1050F4B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0589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6CA2-D4C2-2683-15D6-434631CD3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4E580-BACE-5EB8-DF2A-A59B9B759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BB98B-835D-E60D-3DA3-FBB1C059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323BC-25C5-D22D-4114-8B4D992F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7978-E5AD-D7CC-9870-AF65A029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17383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00F31D-9C2B-B6C8-051F-9D20396C67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B792E4-B1FF-E410-E468-B3B27B9EE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EB66B-8596-9898-88C9-20F6BE16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42EC8-C0B9-269B-2102-F4DB1D70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9FA03-FC36-D2F6-F533-DA414CE6F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21106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FE82D-8517-5C79-3FB2-26DAC9F0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FCBA0-F4CC-70ED-0DF0-3C5E282BA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5FAD2-B8E2-DDE8-04E8-48B96DE4E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CCFBB-5CB9-CE4D-AB1B-A136D14C251E}" type="datetimeFigureOut">
              <a:rPr lang="en-FR" smtClean="0"/>
              <a:t>08/01/2026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44307-663E-ECF4-355D-5F2352948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A30AA-618B-89F0-D7C4-2BC801BAF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29E27-AD5C-744F-ACEF-9896DC23CC3A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2013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865E3E-9617-1F60-628C-63F6BA8C5145}"/>
              </a:ext>
            </a:extLst>
          </p:cNvPr>
          <p:cNvSpPr txBox="1"/>
          <p:nvPr/>
        </p:nvSpPr>
        <p:spPr>
          <a:xfrm>
            <a:off x="1507524" y="654908"/>
            <a:ext cx="812557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FR" dirty="0"/>
              <a:t>Fits header Keywords:</a:t>
            </a:r>
          </a:p>
          <a:p>
            <a:endParaRPr lang="en-FR" dirty="0"/>
          </a:p>
          <a:p>
            <a:r>
              <a:rPr lang="en-FR" dirty="0"/>
              <a:t>DATA-CAT = RAW , PREPROC, REDUCED, PIXELMAP, WAVEMAP, COUPLINGMAP</a:t>
            </a:r>
          </a:p>
          <a:p>
            <a:r>
              <a:rPr lang="en-FR" dirty="0"/>
              <a:t>DATA-TYP =  WAVE?, OBJECT, DARK, SKYFLAT etc..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6F5FBE-C7DB-FC10-E807-FFAB0D9B1BB4}"/>
              </a:ext>
            </a:extLst>
          </p:cNvPr>
          <p:cNvSpPr txBox="1"/>
          <p:nvPr/>
        </p:nvSpPr>
        <p:spPr>
          <a:xfrm>
            <a:off x="676911" y="2041941"/>
            <a:ext cx="6113277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FR"/>
              <a:t>DATA-CAT </a:t>
            </a:r>
            <a:r>
              <a:rPr lang="en-FR" dirty="0"/>
              <a:t>gives the level of reduction: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RAW means raw data from the camera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PREPROC means the data has been cut and compressed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FR" dirty="0">
                <a:sym typeface="Wingdings" pitchFamily="2" charset="2"/>
              </a:rPr>
              <a:t>PIXELMAP is the pixel map on the detector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FR" dirty="0">
                <a:sym typeface="Wingdings" pitchFamily="2" charset="2"/>
              </a:rPr>
              <a:t>WAVEMAP is the wavelength as a function of pixel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FR" dirty="0">
                <a:sym typeface="Wingdings" pitchFamily="2" charset="2"/>
              </a:rPr>
              <a:t>COUPLINGMAP is the position as a function flux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FR" dirty="0">
                <a:sym typeface="Wingdings" pitchFamily="2" charset="2"/>
              </a:rPr>
              <a:t>IMAGE is the reconstructed image cube</a:t>
            </a:r>
          </a:p>
          <a:p>
            <a:pPr marL="285750" indent="-285750">
              <a:buFont typeface="Wingdings" pitchFamily="2" charset="2"/>
              <a:buChar char="à"/>
            </a:pPr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78082-86B1-6AE2-ED8C-6C7E09B44438}"/>
              </a:ext>
            </a:extLst>
          </p:cNvPr>
          <p:cNvSpPr txBox="1"/>
          <p:nvPr/>
        </p:nvSpPr>
        <p:spPr>
          <a:xfrm>
            <a:off x="7018638" y="2318940"/>
            <a:ext cx="4837031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FR" dirty="0"/>
              <a:t>DATA-TYP gives the type of data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WAVE (or COMPARISON, or STANDARD) is Neon source data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SKYFLAT is sky during the night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DARK is dark images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FR" dirty="0">
                <a:sym typeface="Wingdings" pitchFamily="2" charset="2"/>
              </a:rPr>
              <a:t>OBJECT is the night time observation data</a:t>
            </a:r>
            <a:endParaRPr lang="en-FR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1DCAA8B-215D-253B-3A7A-09263ECD1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242" y="4198494"/>
            <a:ext cx="4837031" cy="229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9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F94E4D-0AF0-4F48-849A-C25E5AF1B136}"/>
              </a:ext>
            </a:extLst>
          </p:cNvPr>
          <p:cNvSpPr txBox="1"/>
          <p:nvPr/>
        </p:nvSpPr>
        <p:spPr>
          <a:xfrm>
            <a:off x="201060" y="2834167"/>
            <a:ext cx="1605516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FR" sz="1400" dirty="0">
                <a:solidFill>
                  <a:srgbClr val="FF0000"/>
                </a:solidFill>
              </a:rPr>
              <a:t>RAW</a:t>
            </a:r>
          </a:p>
          <a:p>
            <a:pPr algn="r"/>
            <a:r>
              <a:rPr lang="en-FR" sz="1400" dirty="0"/>
              <a:t>ACQUISITION</a:t>
            </a:r>
          </a:p>
          <a:p>
            <a:pPr algn="r"/>
            <a:r>
              <a:rPr lang="en-FR" sz="1400" dirty="0"/>
              <a:t>OBJECT</a:t>
            </a:r>
          </a:p>
          <a:p>
            <a:pPr algn="r"/>
            <a:r>
              <a:rPr lang="en-FR" sz="1400" dirty="0"/>
              <a:t>COMPARISON</a:t>
            </a:r>
          </a:p>
          <a:p>
            <a:pPr algn="r"/>
            <a:r>
              <a:rPr lang="en-FR" sz="1400" dirty="0"/>
              <a:t>FLAT</a:t>
            </a:r>
          </a:p>
          <a:p>
            <a:pPr algn="r"/>
            <a:r>
              <a:rPr lang="en-FR" sz="1400" dirty="0"/>
              <a:t>DARK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5C997-F45A-B1CC-05CB-BECFE19A96C0}"/>
              </a:ext>
            </a:extLst>
          </p:cNvPr>
          <p:cNvSpPr txBox="1"/>
          <p:nvPr/>
        </p:nvSpPr>
        <p:spPr>
          <a:xfrm>
            <a:off x="2660723" y="2430697"/>
            <a:ext cx="2186763" cy="4924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FR" sz="1200" u="sng" dirty="0">
                <a:solidFill>
                  <a:schemeClr val="accent5"/>
                </a:solidFill>
              </a:rPr>
              <a:t>runPL_create_pixelMap.py</a:t>
            </a:r>
          </a:p>
          <a:p>
            <a:pPr algn="ctr"/>
            <a:r>
              <a:rPr lang="en-FR" sz="1400" dirty="0">
                <a:solidFill>
                  <a:srgbClr val="FF0000"/>
                </a:solidFill>
              </a:rPr>
              <a:t>PIXELMAP</a:t>
            </a:r>
            <a:endParaRPr lang="en-F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5E3CB-3194-842E-A896-96435D45A422}"/>
              </a:ext>
            </a:extLst>
          </p:cNvPr>
          <p:cNvSpPr txBox="1"/>
          <p:nvPr/>
        </p:nvSpPr>
        <p:spPr>
          <a:xfrm>
            <a:off x="3323485" y="3540034"/>
            <a:ext cx="2186764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FR" sz="1200" u="sng" dirty="0">
                <a:solidFill>
                  <a:schemeClr val="accent5"/>
                </a:solidFill>
              </a:rPr>
              <a:t>runPL_make_preproc.py</a:t>
            </a:r>
          </a:p>
          <a:p>
            <a:pPr algn="ctr"/>
            <a:r>
              <a:rPr lang="en-FR" sz="1400" dirty="0">
                <a:solidFill>
                  <a:srgbClr val="FF0000"/>
                </a:solidFill>
              </a:rPr>
              <a:t>PREPROC</a:t>
            </a:r>
          </a:p>
          <a:p>
            <a:pPr algn="r"/>
            <a:r>
              <a:rPr lang="en-FR" sz="1400" dirty="0"/>
              <a:t>FLAT</a:t>
            </a:r>
          </a:p>
          <a:p>
            <a:pPr algn="r"/>
            <a:r>
              <a:rPr lang="en-FR" sz="1400" dirty="0"/>
              <a:t>COMPARISON</a:t>
            </a:r>
          </a:p>
          <a:p>
            <a:pPr algn="r"/>
            <a:r>
              <a:rPr lang="en-FR" sz="1400" dirty="0"/>
              <a:t>ACQUISITION</a:t>
            </a:r>
          </a:p>
          <a:p>
            <a:pPr algn="r"/>
            <a:r>
              <a:rPr lang="en-FR" sz="1400" dirty="0"/>
              <a:t>OBJECT</a:t>
            </a:r>
          </a:p>
          <a:p>
            <a:pPr algn="r"/>
            <a:r>
              <a:rPr lang="en-FR" sz="1400" dirty="0"/>
              <a:t>DARK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CBC3D-F42F-E70F-75A7-B32596CA580F}"/>
              </a:ext>
            </a:extLst>
          </p:cNvPr>
          <p:cNvSpPr txBox="1"/>
          <p:nvPr/>
        </p:nvSpPr>
        <p:spPr>
          <a:xfrm>
            <a:off x="6297059" y="2430697"/>
            <a:ext cx="1984744" cy="4924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FR" sz="1200" u="sng" dirty="0">
                <a:solidFill>
                  <a:schemeClr val="accent5"/>
                </a:solidFill>
              </a:rPr>
              <a:t>runPL_create_flatMap.py</a:t>
            </a:r>
          </a:p>
          <a:p>
            <a:pPr algn="ctr"/>
            <a:r>
              <a:rPr lang="en-FR" sz="1400" dirty="0">
                <a:solidFill>
                  <a:srgbClr val="FF0000"/>
                </a:solidFill>
              </a:rPr>
              <a:t>FLATMAP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05DF6-B483-6624-98BD-89332F3EA9FC}"/>
              </a:ext>
            </a:extLst>
          </p:cNvPr>
          <p:cNvSpPr txBox="1"/>
          <p:nvPr/>
        </p:nvSpPr>
        <p:spPr>
          <a:xfrm>
            <a:off x="9059036" y="2462898"/>
            <a:ext cx="2257106" cy="4924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FR" sz="1200" u="sng" dirty="0">
                <a:solidFill>
                  <a:schemeClr val="accent5"/>
                </a:solidFill>
              </a:rPr>
              <a:t>runPL_create_waveMap.py</a:t>
            </a:r>
          </a:p>
          <a:p>
            <a:pPr algn="ctr"/>
            <a:r>
              <a:rPr lang="en-FR" sz="1400" dirty="0">
                <a:solidFill>
                  <a:srgbClr val="FF0000"/>
                </a:solidFill>
              </a:rPr>
              <a:t>WAVEMAP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FFF57-737A-503F-6C05-32DDBE2D1765}"/>
              </a:ext>
            </a:extLst>
          </p:cNvPr>
          <p:cNvSpPr txBox="1"/>
          <p:nvPr/>
        </p:nvSpPr>
        <p:spPr>
          <a:xfrm>
            <a:off x="7785612" y="4580747"/>
            <a:ext cx="2401977" cy="4924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FR" sz="1200" u="sng" dirty="0">
                <a:solidFill>
                  <a:schemeClr val="accent5"/>
                </a:solidFill>
              </a:rPr>
              <a:t>runPL_create_couplingMap.py</a:t>
            </a:r>
          </a:p>
          <a:p>
            <a:pPr algn="ctr"/>
            <a:r>
              <a:rPr lang="en-FR" sz="1400" dirty="0">
                <a:solidFill>
                  <a:srgbClr val="FF0000"/>
                </a:solidFill>
              </a:rPr>
              <a:t>COUPLINGMAP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F8E71-067B-4B27-2259-CE4A440F739C}"/>
              </a:ext>
            </a:extLst>
          </p:cNvPr>
          <p:cNvSpPr txBox="1"/>
          <p:nvPr/>
        </p:nvSpPr>
        <p:spPr>
          <a:xfrm>
            <a:off x="9201020" y="6128699"/>
            <a:ext cx="2752562" cy="492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FR" sz="1200" u="sng" dirty="0">
                <a:solidFill>
                  <a:schemeClr val="accent5"/>
                </a:solidFill>
              </a:rPr>
              <a:t>runPL_make_image.py</a:t>
            </a:r>
          </a:p>
          <a:p>
            <a:pPr algn="ctr"/>
            <a:r>
              <a:rPr lang="en-FR" sz="1400" dirty="0">
                <a:solidFill>
                  <a:srgbClr val="FF0000"/>
                </a:solidFill>
              </a:rPr>
              <a:t>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896C6-1390-D32D-CA59-FC18A48E0587}"/>
              </a:ext>
            </a:extLst>
          </p:cNvPr>
          <p:cNvSpPr txBox="1"/>
          <p:nvPr/>
        </p:nvSpPr>
        <p:spPr>
          <a:xfrm>
            <a:off x="5913150" y="6128698"/>
            <a:ext cx="2752562" cy="4924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FR" sz="1200" u="sng" dirty="0">
                <a:solidFill>
                  <a:schemeClr val="accent5"/>
                </a:solidFill>
              </a:rPr>
              <a:t>runPL_make_astrometry.py</a:t>
            </a:r>
          </a:p>
          <a:p>
            <a:pPr algn="ctr"/>
            <a:r>
              <a:rPr lang="en-FR" sz="1400" dirty="0">
                <a:solidFill>
                  <a:srgbClr val="FF0000"/>
                </a:solidFill>
              </a:rPr>
              <a:t>ASTROMETRY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9580362-B6B9-5C32-2399-075233158CEA}"/>
              </a:ext>
            </a:extLst>
          </p:cNvPr>
          <p:cNvGrpSpPr/>
          <p:nvPr/>
        </p:nvGrpSpPr>
        <p:grpSpPr>
          <a:xfrm>
            <a:off x="4539216" y="163553"/>
            <a:ext cx="3113568" cy="1815882"/>
            <a:chOff x="439477" y="4893326"/>
            <a:chExt cx="3113568" cy="181588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184398E-37B3-10C7-AF38-ED3518E7C6F7}"/>
                </a:ext>
              </a:extLst>
            </p:cNvPr>
            <p:cNvSpPr txBox="1"/>
            <p:nvPr/>
          </p:nvSpPr>
          <p:spPr>
            <a:xfrm>
              <a:off x="439477" y="4893326"/>
              <a:ext cx="3113568" cy="181588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FR" sz="1400" u="sng" dirty="0">
                <a:solidFill>
                  <a:schemeClr val="tx1"/>
                </a:solidFill>
              </a:endParaRPr>
            </a:p>
            <a:p>
              <a:pPr algn="ctr"/>
              <a:r>
                <a:rPr lang="en-FR" sz="1400" u="sng" dirty="0">
                  <a:solidFill>
                    <a:schemeClr val="tx1"/>
                  </a:solidFill>
                </a:rPr>
                <a:t>Legend:</a:t>
              </a:r>
            </a:p>
            <a:p>
              <a:pPr algn="ctr"/>
              <a:r>
                <a:rPr lang="en-FR" sz="1400" dirty="0">
                  <a:solidFill>
                    <a:srgbClr val="FF0000"/>
                  </a:solidFill>
                </a:rPr>
                <a:t>X_FIRTYP fits keyword (eg. RAW)</a:t>
              </a:r>
            </a:p>
            <a:p>
              <a:pPr algn="ctr"/>
              <a:r>
                <a:rPr lang="en-FR" sz="1400" dirty="0">
                  <a:solidFill>
                    <a:schemeClr val="tx1"/>
                  </a:solidFill>
                </a:rPr>
                <a:t>DATA-TYP fits keyworkd (eg. OBJECT)</a:t>
              </a:r>
              <a:br>
                <a:rPr lang="en-FR" sz="1400" dirty="0">
                  <a:solidFill>
                    <a:srgbClr val="FF0000"/>
                  </a:solidFill>
                </a:rPr>
              </a:br>
              <a:r>
                <a:rPr lang="en-FR" sz="1400" dirty="0">
                  <a:solidFill>
                    <a:schemeClr val="accent5"/>
                  </a:solidFill>
                </a:rPr>
                <a:t>recipies (eg. </a:t>
              </a:r>
              <a:r>
                <a:rPr lang="en-FR" sz="1400" u="sng" dirty="0">
                  <a:solidFill>
                    <a:schemeClr val="accent5"/>
                  </a:solidFill>
                </a:rPr>
                <a:t>runPL_make_preproc.py)</a:t>
              </a:r>
              <a:br>
                <a:rPr lang="en-FR" sz="1400" u="sng" dirty="0">
                  <a:solidFill>
                    <a:schemeClr val="accent5"/>
                  </a:solidFill>
                </a:rPr>
              </a:br>
              <a:r>
                <a:rPr lang="en-FR" sz="1400" u="sng" dirty="0">
                  <a:solidFill>
                    <a:schemeClr val="accent6"/>
                  </a:solidFill>
                </a:rPr>
                <a:t>Needed input:    </a:t>
              </a:r>
            </a:p>
            <a:p>
              <a:pPr algn="ctr"/>
              <a:r>
                <a:rPr lang="en-FR" sz="1400" u="sng" dirty="0">
                  <a:solidFill>
                    <a:schemeClr val="accent2"/>
                  </a:solidFill>
                </a:rPr>
                <a:t>Optional input:   </a:t>
              </a:r>
              <a:endParaRPr lang="en-FR" sz="1400" u="sng" dirty="0">
                <a:solidFill>
                  <a:srgbClr val="FF0000"/>
                </a:solidFill>
              </a:endParaRPr>
            </a:p>
            <a:p>
              <a:pPr algn="ctr"/>
              <a:endParaRPr lang="en-FR" sz="1400" dirty="0">
                <a:solidFill>
                  <a:schemeClr val="accent2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99EB733-6595-0968-2707-A29DD8041907}"/>
                </a:ext>
              </a:extLst>
            </p:cNvPr>
            <p:cNvCxnSpPr/>
            <p:nvPr/>
          </p:nvCxnSpPr>
          <p:spPr>
            <a:xfrm>
              <a:off x="2753833" y="6337008"/>
              <a:ext cx="6273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79C6E35-15D5-89B1-38E8-0145FD5771B8}"/>
                </a:ext>
              </a:extLst>
            </p:cNvPr>
            <p:cNvCxnSpPr/>
            <p:nvPr/>
          </p:nvCxnSpPr>
          <p:spPr>
            <a:xfrm>
              <a:off x="2753833" y="6134986"/>
              <a:ext cx="6273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814873-317D-1A20-6AEE-DD3F5CBEBC0E}"/>
              </a:ext>
            </a:extLst>
          </p:cNvPr>
          <p:cNvCxnSpPr>
            <a:cxnSpLocks/>
          </p:cNvCxnSpPr>
          <p:nvPr/>
        </p:nvCxnSpPr>
        <p:spPr>
          <a:xfrm flipV="1">
            <a:off x="1853895" y="2834167"/>
            <a:ext cx="696959" cy="4452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440B2A-6EBD-492A-DEE4-A0692D3ADA9E}"/>
              </a:ext>
            </a:extLst>
          </p:cNvPr>
          <p:cNvCxnSpPr>
            <a:cxnSpLocks/>
          </p:cNvCxnSpPr>
          <p:nvPr/>
        </p:nvCxnSpPr>
        <p:spPr>
          <a:xfrm>
            <a:off x="1864170" y="3998165"/>
            <a:ext cx="1331729" cy="2209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D2B112-EC25-3A1D-0D5E-33F649100844}"/>
              </a:ext>
            </a:extLst>
          </p:cNvPr>
          <p:cNvCxnSpPr>
            <a:cxnSpLocks/>
          </p:cNvCxnSpPr>
          <p:nvPr/>
        </p:nvCxnSpPr>
        <p:spPr>
          <a:xfrm>
            <a:off x="3858659" y="2950293"/>
            <a:ext cx="411125" cy="5554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F8D585-BC8D-B249-ADB2-71A8CF8B2DAE}"/>
              </a:ext>
            </a:extLst>
          </p:cNvPr>
          <p:cNvCxnSpPr>
            <a:cxnSpLocks/>
          </p:cNvCxnSpPr>
          <p:nvPr/>
        </p:nvCxnSpPr>
        <p:spPr>
          <a:xfrm flipV="1">
            <a:off x="5611799" y="2923723"/>
            <a:ext cx="1026042" cy="1163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F1FA32-D2BB-5F8A-F04D-AD60C8E5C765}"/>
              </a:ext>
            </a:extLst>
          </p:cNvPr>
          <p:cNvCxnSpPr>
            <a:cxnSpLocks/>
          </p:cNvCxnSpPr>
          <p:nvPr/>
        </p:nvCxnSpPr>
        <p:spPr>
          <a:xfrm flipV="1">
            <a:off x="5637835" y="2995835"/>
            <a:ext cx="3348765" cy="12855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4CAB48-6F98-33FC-49B2-5AC89F16167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637835" y="4698437"/>
            <a:ext cx="2147777" cy="128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649D338-0C47-CE7F-93DB-3E1E17B5848D}"/>
              </a:ext>
            </a:extLst>
          </p:cNvPr>
          <p:cNvCxnSpPr>
            <a:cxnSpLocks/>
          </p:cNvCxnSpPr>
          <p:nvPr/>
        </p:nvCxnSpPr>
        <p:spPr>
          <a:xfrm>
            <a:off x="7307152" y="2995835"/>
            <a:ext cx="1358560" cy="1456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CB5443A-CC3E-5870-BC8B-AB1F72DC8BEE}"/>
              </a:ext>
            </a:extLst>
          </p:cNvPr>
          <p:cNvCxnSpPr>
            <a:cxnSpLocks/>
          </p:cNvCxnSpPr>
          <p:nvPr/>
        </p:nvCxnSpPr>
        <p:spPr>
          <a:xfrm flipH="1">
            <a:off x="9201020" y="3056752"/>
            <a:ext cx="505546" cy="13943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905333F-6DCE-4813-C137-C1790DB4345E}"/>
              </a:ext>
            </a:extLst>
          </p:cNvPr>
          <p:cNvCxnSpPr>
            <a:cxnSpLocks/>
          </p:cNvCxnSpPr>
          <p:nvPr/>
        </p:nvCxnSpPr>
        <p:spPr>
          <a:xfrm>
            <a:off x="8321068" y="2709119"/>
            <a:ext cx="69064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6CDC046-174C-9CB0-DD24-E7565F887D65}"/>
              </a:ext>
            </a:extLst>
          </p:cNvPr>
          <p:cNvCxnSpPr>
            <a:cxnSpLocks/>
          </p:cNvCxnSpPr>
          <p:nvPr/>
        </p:nvCxnSpPr>
        <p:spPr>
          <a:xfrm>
            <a:off x="8962186" y="5073190"/>
            <a:ext cx="1399063" cy="10315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EF82740-BD41-0A1C-4CF4-AE8A54D94E68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7289431" y="5073190"/>
            <a:ext cx="1697170" cy="10555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EF81A04-E7DB-0043-26A5-787A386D90A8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637835" y="4698435"/>
            <a:ext cx="1651596" cy="14302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B1B6AEB-433E-D912-3AFB-FD035740A5FF}"/>
              </a:ext>
            </a:extLst>
          </p:cNvPr>
          <p:cNvCxnSpPr>
            <a:cxnSpLocks/>
          </p:cNvCxnSpPr>
          <p:nvPr/>
        </p:nvCxnSpPr>
        <p:spPr>
          <a:xfrm>
            <a:off x="5637835" y="4698436"/>
            <a:ext cx="4404158" cy="14063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D5B80AE-36FE-2CF0-10AF-CD6933963AF3}"/>
              </a:ext>
            </a:extLst>
          </p:cNvPr>
          <p:cNvCxnSpPr>
            <a:cxnSpLocks/>
          </p:cNvCxnSpPr>
          <p:nvPr/>
        </p:nvCxnSpPr>
        <p:spPr>
          <a:xfrm flipV="1">
            <a:off x="1864170" y="3056752"/>
            <a:ext cx="13732" cy="116241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DAAD9C2-FD63-5D41-CE3D-1E850B97E290}"/>
              </a:ext>
            </a:extLst>
          </p:cNvPr>
          <p:cNvCxnSpPr>
            <a:cxnSpLocks/>
          </p:cNvCxnSpPr>
          <p:nvPr/>
        </p:nvCxnSpPr>
        <p:spPr>
          <a:xfrm flipV="1">
            <a:off x="5623999" y="4426576"/>
            <a:ext cx="0" cy="4003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56A1615-0DAE-2228-EB61-4A82C4CF73C4}"/>
              </a:ext>
            </a:extLst>
          </p:cNvPr>
          <p:cNvCxnSpPr>
            <a:cxnSpLocks/>
          </p:cNvCxnSpPr>
          <p:nvPr/>
        </p:nvCxnSpPr>
        <p:spPr>
          <a:xfrm flipV="1">
            <a:off x="5623999" y="3972107"/>
            <a:ext cx="0" cy="18372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64E44A7-506C-8341-2F4D-2E05092DC0D8}"/>
              </a:ext>
            </a:extLst>
          </p:cNvPr>
          <p:cNvCxnSpPr>
            <a:cxnSpLocks/>
          </p:cNvCxnSpPr>
          <p:nvPr/>
        </p:nvCxnSpPr>
        <p:spPr>
          <a:xfrm flipV="1">
            <a:off x="5623999" y="4201348"/>
            <a:ext cx="0" cy="18372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8861CFA-BF29-CF08-D3CA-B413CD70EB3C}"/>
              </a:ext>
            </a:extLst>
          </p:cNvPr>
          <p:cNvSpPr txBox="1"/>
          <p:nvPr/>
        </p:nvSpPr>
        <p:spPr>
          <a:xfrm>
            <a:off x="5695956" y="4256003"/>
            <a:ext cx="22652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dirty="0"/>
              <a:t>DARKs are used when available</a:t>
            </a:r>
          </a:p>
        </p:txBody>
      </p:sp>
    </p:spTree>
    <p:extLst>
      <p:ext uri="{BB962C8B-B14F-4D97-AF65-F5344CB8AC3E}">
        <p14:creationId xmlns:p14="http://schemas.microsoft.com/office/powerpoint/2010/main" val="3152944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0FBA50-2613-8C14-85B7-64AAC99FD28D}"/>
              </a:ext>
            </a:extLst>
          </p:cNvPr>
          <p:cNvSpPr/>
          <p:nvPr/>
        </p:nvSpPr>
        <p:spPr>
          <a:xfrm>
            <a:off x="230367" y="2892717"/>
            <a:ext cx="2665227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COUPLING MAP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0AAB38-00F6-77F4-19EB-0C4A05D798F5}"/>
              </a:ext>
            </a:extLst>
          </p:cNvPr>
          <p:cNvSpPr/>
          <p:nvPr/>
        </p:nvSpPr>
        <p:spPr>
          <a:xfrm>
            <a:off x="9165266" y="616687"/>
            <a:ext cx="2222205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PIXEL 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C4A9BE-A1E7-0C3A-4F8E-E143ADBA12E0}"/>
              </a:ext>
            </a:extLst>
          </p:cNvPr>
          <p:cNvSpPr/>
          <p:nvPr/>
        </p:nvSpPr>
        <p:spPr>
          <a:xfrm>
            <a:off x="3746202" y="86136"/>
            <a:ext cx="4699591" cy="1841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RAW Files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A4E469-DC26-1BF9-7651-64BFF4B94E3E}"/>
              </a:ext>
            </a:extLst>
          </p:cNvPr>
          <p:cNvSpPr/>
          <p:nvPr/>
        </p:nvSpPr>
        <p:spPr>
          <a:xfrm>
            <a:off x="3746202" y="2626240"/>
            <a:ext cx="4699591" cy="1669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  <a:p>
            <a:pPr algn="ctr"/>
            <a:r>
              <a:rPr lang="en-FR" dirty="0"/>
              <a:t>PREPROC Files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98B982-5D76-D669-DB1B-1AF13E5886C8}"/>
              </a:ext>
            </a:extLst>
          </p:cNvPr>
          <p:cNvSpPr/>
          <p:nvPr/>
        </p:nvSpPr>
        <p:spPr>
          <a:xfrm>
            <a:off x="435963" y="5031148"/>
            <a:ext cx="4699591" cy="17102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  <a:p>
            <a:pPr algn="ctr"/>
            <a:r>
              <a:rPr lang="en-FR" dirty="0"/>
              <a:t>REDUCED Files:</a:t>
            </a:r>
          </a:p>
          <a:p>
            <a:pPr algn="ctr"/>
            <a:endParaRPr lang="en-FR" dirty="0"/>
          </a:p>
          <a:p>
            <a:pPr algn="ctr"/>
            <a:r>
              <a:rPr lang="en-GB" dirty="0"/>
              <a:t>I</a:t>
            </a:r>
            <a:r>
              <a:rPr lang="en-FR" dirty="0"/>
              <a:t>mages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91E8B28-D4DA-8144-410D-AE6C8060EB40}"/>
              </a:ext>
            </a:extLst>
          </p:cNvPr>
          <p:cNvSpPr/>
          <p:nvPr/>
        </p:nvSpPr>
        <p:spPr>
          <a:xfrm>
            <a:off x="6836735" y="839972"/>
            <a:ext cx="2817628" cy="47846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runPL_create_pixelMap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554D5-28C8-923E-6205-E00BDC7DA3CE}"/>
              </a:ext>
            </a:extLst>
          </p:cNvPr>
          <p:cNvSpPr/>
          <p:nvPr/>
        </p:nvSpPr>
        <p:spPr>
          <a:xfrm>
            <a:off x="8966792" y="2791045"/>
            <a:ext cx="2665227" cy="925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WAVELENGTH MAP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3B1BB21-3707-CA9A-8FE3-8A3026D574FE}"/>
              </a:ext>
            </a:extLst>
          </p:cNvPr>
          <p:cNvSpPr/>
          <p:nvPr/>
        </p:nvSpPr>
        <p:spPr>
          <a:xfrm flipH="1">
            <a:off x="2498645" y="3102735"/>
            <a:ext cx="2578777" cy="47846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runPL_create_couplingMap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63FA5082-6862-4917-7955-A7FCB23E0EEA}"/>
              </a:ext>
            </a:extLst>
          </p:cNvPr>
          <p:cNvSpPr/>
          <p:nvPr/>
        </p:nvSpPr>
        <p:spPr>
          <a:xfrm>
            <a:off x="4265425" y="1731585"/>
            <a:ext cx="3879114" cy="1249325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runPL_make_preproc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556592D-DD6C-95DB-B2FB-D4C419158955}"/>
              </a:ext>
            </a:extLst>
          </p:cNvPr>
          <p:cNvSpPr/>
          <p:nvPr/>
        </p:nvSpPr>
        <p:spPr>
          <a:xfrm>
            <a:off x="6675475" y="3054737"/>
            <a:ext cx="2620926" cy="47846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runPL_create_wavelengthMap</a:t>
            </a:r>
          </a:p>
        </p:txBody>
      </p:sp>
      <p:sp>
        <p:nvSpPr>
          <p:cNvPr id="15" name="Left Arrow 14">
            <a:extLst>
              <a:ext uri="{FF2B5EF4-FFF2-40B4-BE49-F238E27FC236}">
                <a16:creationId xmlns:a16="http://schemas.microsoft.com/office/drawing/2014/main" id="{A716BFEF-5A0F-E6E1-0412-99E0D831188E}"/>
              </a:ext>
            </a:extLst>
          </p:cNvPr>
          <p:cNvSpPr/>
          <p:nvPr/>
        </p:nvSpPr>
        <p:spPr>
          <a:xfrm rot="20863215">
            <a:off x="6592110" y="1536908"/>
            <a:ext cx="2892363" cy="325617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Needed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02A07F-B7B9-22B8-22F9-A68C203BDED9}"/>
              </a:ext>
            </a:extLst>
          </p:cNvPr>
          <p:cNvSpPr/>
          <p:nvPr/>
        </p:nvSpPr>
        <p:spPr>
          <a:xfrm>
            <a:off x="6932428" y="5036403"/>
            <a:ext cx="4699591" cy="17102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  <a:p>
            <a:pPr algn="ctr"/>
            <a:r>
              <a:rPr lang="en-FR" dirty="0"/>
              <a:t>REDUCED Files:</a:t>
            </a:r>
          </a:p>
          <a:p>
            <a:pPr algn="ctr"/>
            <a:endParaRPr lang="en-FR" dirty="0"/>
          </a:p>
          <a:p>
            <a:pPr algn="ctr"/>
            <a:r>
              <a:rPr lang="en-GB" dirty="0"/>
              <a:t>Astrometry</a:t>
            </a:r>
            <a:endParaRPr lang="en-FR" dirty="0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C642883A-C656-8F55-F077-A4BAD2E59DB7}"/>
              </a:ext>
            </a:extLst>
          </p:cNvPr>
          <p:cNvSpPr/>
          <p:nvPr/>
        </p:nvSpPr>
        <p:spPr>
          <a:xfrm>
            <a:off x="2924154" y="4295554"/>
            <a:ext cx="2938846" cy="1249325"/>
          </a:xfrm>
          <a:prstGeom prst="downArrow">
            <a:avLst>
              <a:gd name="adj1" fmla="val 69537"/>
              <a:gd name="adj2" fmla="val 5000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runPL_make_image</a:t>
            </a:r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B9C8BC34-CE87-8F4B-3845-B032FE77AD0E}"/>
              </a:ext>
            </a:extLst>
          </p:cNvPr>
          <p:cNvSpPr/>
          <p:nvPr/>
        </p:nvSpPr>
        <p:spPr>
          <a:xfrm rot="810497" flipH="1">
            <a:off x="2375996" y="4051991"/>
            <a:ext cx="4806867" cy="325617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Needed</a:t>
            </a:r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697ACC78-1D72-BE29-6801-0E234B31C083}"/>
              </a:ext>
            </a:extLst>
          </p:cNvPr>
          <p:cNvSpPr/>
          <p:nvPr/>
        </p:nvSpPr>
        <p:spPr>
          <a:xfrm rot="19562929">
            <a:off x="9257272" y="4010228"/>
            <a:ext cx="1902159" cy="325617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Optional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CF244BAC-A9BB-A8CF-D29E-197FC23C4730}"/>
              </a:ext>
            </a:extLst>
          </p:cNvPr>
          <p:cNvSpPr/>
          <p:nvPr/>
        </p:nvSpPr>
        <p:spPr>
          <a:xfrm>
            <a:off x="6204982" y="4298645"/>
            <a:ext cx="3281031" cy="1249325"/>
          </a:xfrm>
          <a:prstGeom prst="downArrow">
            <a:avLst>
              <a:gd name="adj1" fmla="val 64259"/>
              <a:gd name="adj2" fmla="val 5000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sz="1400" dirty="0"/>
              <a:t>runPL_make_astrometry</a:t>
            </a:r>
          </a:p>
        </p:txBody>
      </p:sp>
      <p:sp>
        <p:nvSpPr>
          <p:cNvPr id="20" name="Left Arrow 19">
            <a:extLst>
              <a:ext uri="{FF2B5EF4-FFF2-40B4-BE49-F238E27FC236}">
                <a16:creationId xmlns:a16="http://schemas.microsoft.com/office/drawing/2014/main" id="{C0827315-B5A9-4CAB-5CAD-8EFEF77FF7B3}"/>
              </a:ext>
            </a:extLst>
          </p:cNvPr>
          <p:cNvSpPr/>
          <p:nvPr/>
        </p:nvSpPr>
        <p:spPr>
          <a:xfrm rot="1164221" flipH="1">
            <a:off x="1365944" y="3932680"/>
            <a:ext cx="2619378" cy="325617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Needed</a:t>
            </a:r>
          </a:p>
        </p:txBody>
      </p:sp>
    </p:spTree>
    <p:extLst>
      <p:ext uri="{BB962C8B-B14F-4D97-AF65-F5344CB8AC3E}">
        <p14:creationId xmlns:p14="http://schemas.microsoft.com/office/powerpoint/2010/main" val="2153121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441D6-1F35-4C9D-E4AE-F080ACC40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Basic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872E-27A8-7C52-C23F-83165985C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u="sng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runLP_dfits</a:t>
            </a:r>
            <a:r>
              <a:rPr lang="en-US" sz="2000" u="sng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 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shows the important parameters of header: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A74AF09-BACD-4438-B696-8A719942A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748" y="3429000"/>
            <a:ext cx="11023737" cy="364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8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B475A-AEC3-550D-B1FC-C0C677423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E8E82-3867-EB67-9F4E-9B4675FD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Basic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80CC5-6789-B5A7-4BFE-850D461C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066" y="806824"/>
            <a:ext cx="3124714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u="sng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runPL_changeKeyword.py</a:t>
            </a:r>
            <a:r>
              <a:rPr lang="en-US" sz="2000" u="sng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change the DPR keywords of files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6351266-99EB-A099-CCEF-C7093D40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557" y="380701"/>
            <a:ext cx="8682444" cy="384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06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C8916-DD94-86CB-3CBD-ED8E52DD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156" y="-20280"/>
            <a:ext cx="3201366" cy="3029367"/>
          </a:xfrm>
        </p:spPr>
        <p:txBody>
          <a:bodyPr anchor="b">
            <a:normAutofit/>
          </a:bodyPr>
          <a:lstStyle/>
          <a:p>
            <a:pPr algn="r"/>
            <a:r>
              <a:rPr lang="en-FR" sz="4000" dirty="0">
                <a:solidFill>
                  <a:srgbClr val="FFFFFF"/>
                </a:solidFill>
              </a:rPr>
              <a:t>PREPROC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CD17D-C3B8-BE61-A52C-A663263AB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492" y="-1066852"/>
            <a:ext cx="3641481" cy="418201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FR" sz="2000" u="sng" dirty="0">
                <a:solidFill>
                  <a:schemeClr val="bg1"/>
                </a:solidFill>
              </a:rPr>
              <a:t>runLP_createPixelMap.py:</a:t>
            </a:r>
            <a:r>
              <a:rPr lang="en-FR" sz="2000" dirty="0">
                <a:solidFill>
                  <a:schemeClr val="bg1"/>
                </a:solidFill>
              </a:rPr>
              <a:t> create a file “firstpl_PIXELS.fits” file from any directory of RAW data.</a:t>
            </a:r>
            <a:r>
              <a:rPr lang="en-GB" sz="2000" dirty="0">
                <a:solidFill>
                  <a:schemeClr val="bg1"/>
                </a:solidFill>
              </a:rPr>
              <a:t>A</a:t>
            </a:r>
            <a:r>
              <a:rPr lang="en-FR" sz="2000" dirty="0">
                <a:solidFill>
                  <a:schemeClr val="bg1"/>
                </a:solidFill>
              </a:rPr>
              <a:t>lso create a png: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5730ADB-20CB-7FA9-18A7-26B8EC73D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088" y="-162299"/>
            <a:ext cx="5454891" cy="3232021"/>
          </a:xfrm>
          <a:prstGeom prst="rect">
            <a:avLst/>
          </a:prstGeom>
        </p:spPr>
      </p:pic>
      <p:pic>
        <p:nvPicPr>
          <p:cNvPr id="9" name="Picture 8" descr="A close-up of a screen&#10;&#10;Description automatically generated">
            <a:extLst>
              <a:ext uri="{FF2B5EF4-FFF2-40B4-BE49-F238E27FC236}">
                <a16:creationId xmlns:a16="http://schemas.microsoft.com/office/drawing/2014/main" id="{9FD83179-7B5D-4217-06BD-56B1D1825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458" y="2605044"/>
            <a:ext cx="7463928" cy="41466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5BCBA4-53A7-2ECA-5B8F-C5A31C8E7C6D}"/>
              </a:ext>
            </a:extLst>
          </p:cNvPr>
          <p:cNvSpPr txBox="1"/>
          <p:nvPr/>
        </p:nvSpPr>
        <p:spPr>
          <a:xfrm>
            <a:off x="1020727" y="4462089"/>
            <a:ext cx="2509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</a:rPr>
              <a:t>White lines are position of the peaks found and used for the fit of the window:</a:t>
            </a:r>
          </a:p>
        </p:txBody>
      </p:sp>
    </p:spTree>
    <p:extLst>
      <p:ext uri="{BB962C8B-B14F-4D97-AF65-F5344CB8AC3E}">
        <p14:creationId xmlns:p14="http://schemas.microsoft.com/office/powerpoint/2010/main" val="329619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2AC3B-0C8A-7793-B1C1-E016881E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PREPROC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24FC4-4E15-08CE-5A91-52AF0668C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u="sng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runPL_preprocess.py</a:t>
            </a:r>
            <a:r>
              <a:rPr lang="en-US" sz="2000" u="sng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Cut the RAW data, output the data in the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preproc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directory, plus 2 plots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CF34E90-4430-F72C-92AF-DE745A030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062" y="-262369"/>
            <a:ext cx="7225748" cy="406448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100D7A3-6DDB-23C8-7513-551BCAE25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311" y="3055888"/>
            <a:ext cx="5135527" cy="4064481"/>
          </a:xfrm>
          <a:prstGeom prst="rect">
            <a:avLst/>
          </a:prstGeom>
        </p:spPr>
      </p:pic>
      <p:pic>
        <p:nvPicPr>
          <p:cNvPr id="4" name="Picture 3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DFAC2731-833D-9713-4625-77BDBE192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145" y="3273494"/>
            <a:ext cx="3991882" cy="3526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4DADC2-0A41-9E6F-5DC4-7265C9167F49}"/>
              </a:ext>
            </a:extLst>
          </p:cNvPr>
          <p:cNvSpPr txBox="1"/>
          <p:nvPr/>
        </p:nvSpPr>
        <p:spPr>
          <a:xfrm>
            <a:off x="172055" y="5285015"/>
            <a:ext cx="312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chemeClr val="bg1"/>
                </a:solidFill>
              </a:rPr>
              <a:t>Also compute vertical shift </a:t>
            </a:r>
            <a:r>
              <a:rPr lang="en-FR" dirty="0">
                <a:sym typeface="Wingdings" pitchFamily="2" charset="2"/>
              </a:rPr>
              <a:t>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615023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03F8-3CFD-5505-0CD5-2338224E2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and a diagram&#10;&#10;Description automatically generated with medium confidence">
            <a:extLst>
              <a:ext uri="{FF2B5EF4-FFF2-40B4-BE49-F238E27FC236}">
                <a16:creationId xmlns:a16="http://schemas.microsoft.com/office/drawing/2014/main" id="{7DE37EC4-2FA7-E6C0-E49E-FCDDC7540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168" y="3476847"/>
            <a:ext cx="6492832" cy="2967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84D27-6A81-D7FE-D004-3D8C0BC2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30" y="654527"/>
            <a:ext cx="3654332" cy="305562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</a:t>
            </a:r>
            <a:r>
              <a:rPr lang="en-US" sz="2700" dirty="0" err="1">
                <a:solidFill>
                  <a:srgbClr val="FF0000"/>
                </a:solidFill>
              </a:rPr>
              <a:t>T</a:t>
            </a:r>
            <a:r>
              <a:rPr lang="en-US" sz="2700" kern="12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</a:t>
            </a:r>
            <a:r>
              <a:rPr lang="en-US" sz="27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do:</a:t>
            </a:r>
            <a:br>
              <a:rPr lang="en-US" sz="27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automatic checking of the good peaks:</a:t>
            </a:r>
            <a:br>
              <a:rPr lang="en-US" sz="2700" kern="1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 dirty="0">
                <a:latin typeface="+mj-lt"/>
                <a:ea typeface="+mj-ea"/>
                <a:cs typeface="+mj-cs"/>
              </a:rPr>
              <a:t>start with a list of 18 peaks. Find the 15 biggest. Check which one are found over the 18</a:t>
            </a:r>
            <a:r>
              <a:rPr lang="en-US" sz="2700" kern="1200" baseline="30000" dirty="0">
                <a:latin typeface="+mj-lt"/>
                <a:ea typeface="+mj-ea"/>
                <a:cs typeface="+mj-cs"/>
              </a:rPr>
              <a:t>th</a:t>
            </a:r>
            <a:r>
              <a:rPr lang="en-US" sz="2700" kern="1200" dirty="0">
                <a:latin typeface="+mj-lt"/>
                <a:ea typeface="+mj-ea"/>
                <a:cs typeface="+mj-cs"/>
              </a:rPr>
              <a:t>….</a:t>
            </a:r>
            <a:endParaRPr lang="en-US" sz="4000" kern="1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" name="Picture 19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6EE8526-FC0E-8B32-92CD-40271EC57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5923005" cy="3189310"/>
          </a:xfrm>
          <a:prstGeom prst="rect">
            <a:avLst/>
          </a:prstGeom>
        </p:spPr>
      </p:pic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CF755DD7-3026-0E55-1DF2-9B176F271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648" y="-135796"/>
            <a:ext cx="7772400" cy="35169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872FBC6-3480-0D4B-6D5B-2A00660521EE}"/>
              </a:ext>
            </a:extLst>
          </p:cNvPr>
          <p:cNvSpPr txBox="1"/>
          <p:nvPr/>
        </p:nvSpPr>
        <p:spPr>
          <a:xfrm>
            <a:off x="417994" y="654527"/>
            <a:ext cx="3396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runPL_createWavelengthMap.py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8D64FB-6AC3-D7C2-C081-7EAE5DFF084E}"/>
              </a:ext>
            </a:extLst>
          </p:cNvPr>
          <p:cNvSpPr txBox="1"/>
          <p:nvPr/>
        </p:nvSpPr>
        <p:spPr>
          <a:xfrm>
            <a:off x="2214395" y="5834141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Bad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13335-F3FA-E5D2-BA22-35F414D161BF}"/>
              </a:ext>
            </a:extLst>
          </p:cNvPr>
          <p:cNvSpPr txBox="1"/>
          <p:nvPr/>
        </p:nvSpPr>
        <p:spPr>
          <a:xfrm>
            <a:off x="7385362" y="5649475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1645095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7BE0B-0BA0-DCBD-61B5-377227D81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0D04A2-3FAE-0D93-09D9-AB14B80D0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D61937-C7F1-06B8-E2CF-E592513D1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2E034D-8292-E375-8D9D-C1ABE6564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234EF6-3775-97C0-28C3-411ADAF27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F57CB09-B13E-91B1-5B56-11E80E0D7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3066E-F0AD-B8A2-36F0-5C9015C4E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REDUCE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E0F70-3702-F765-D373-68D2CBDE4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53" y="806824"/>
            <a:ext cx="368949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u="sng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runPL_createCouplingMap.py</a:t>
            </a:r>
            <a:r>
              <a:rPr lang="en-US" sz="2000" u="sng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create a fits files with the coupling map matrices</a:t>
            </a:r>
          </a:p>
        </p:txBody>
      </p:sp>
    </p:spTree>
    <p:extLst>
      <p:ext uri="{BB962C8B-B14F-4D97-AF65-F5344CB8AC3E}">
        <p14:creationId xmlns:p14="http://schemas.microsoft.com/office/powerpoint/2010/main" val="117768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E4B1-631A-3959-3FB8-487912E5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2DBA-BE52-58D3-8A3B-4F695C7E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REDUCE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3F1FC-FF21-86F8-62BC-9F319C07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53" y="806824"/>
            <a:ext cx="368949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u="sng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runPL_createCouplingMap.py</a:t>
            </a:r>
            <a:r>
              <a:rPr lang="en-US" sz="2000" u="sng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create a fits files with the coupling map matrices</a:t>
            </a:r>
          </a:p>
        </p:txBody>
      </p:sp>
    </p:spTree>
    <p:extLst>
      <p:ext uri="{BB962C8B-B14F-4D97-AF65-F5344CB8AC3E}">
        <p14:creationId xmlns:p14="http://schemas.microsoft.com/office/powerpoint/2010/main" val="2446086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8411</TotalTime>
  <Words>464</Words>
  <Application>Microsoft Macintosh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Basic tools</vt:lpstr>
      <vt:lpstr>Basic tools</vt:lpstr>
      <vt:lpstr>PREPROC tools</vt:lpstr>
      <vt:lpstr>PREPROC tools</vt:lpstr>
      <vt:lpstr>R TTo do: automatic checking of the good peaks: start with a list of 18 peaks. Find the 15 biggest. Check which one are found over the 18th….</vt:lpstr>
      <vt:lpstr>REDUCE tools</vt:lpstr>
      <vt:lpstr>REDUCE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Sylvestre Lacour</dc:creator>
  <cp:lastModifiedBy>Sylvestre Lacour</cp:lastModifiedBy>
  <cp:revision>21</cp:revision>
  <dcterms:created xsi:type="dcterms:W3CDTF">2024-09-19T04:58:58Z</dcterms:created>
  <dcterms:modified xsi:type="dcterms:W3CDTF">2026-01-09T22:35:52Z</dcterms:modified>
</cp:coreProperties>
</file>